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2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7" r:id="rId3"/>
    <p:sldId id="261" r:id="rId4"/>
    <p:sldId id="359" r:id="rId5"/>
    <p:sldId id="392" r:id="rId6"/>
    <p:sldId id="264" r:id="rId7"/>
    <p:sldId id="266" r:id="rId8"/>
    <p:sldId id="384" r:id="rId9"/>
    <p:sldId id="386" r:id="rId10"/>
    <p:sldId id="385" r:id="rId11"/>
    <p:sldId id="388" r:id="rId12"/>
    <p:sldId id="387" r:id="rId13"/>
    <p:sldId id="389" r:id="rId14"/>
    <p:sldId id="390" r:id="rId15"/>
    <p:sldId id="391" r:id="rId16"/>
    <p:sldId id="380" r:id="rId17"/>
    <p:sldId id="274" r:id="rId18"/>
    <p:sldId id="38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577"/>
    <p:restoredTop sz="86501"/>
  </p:normalViewPr>
  <p:slideViewPr>
    <p:cSldViewPr snapToGrid="0" snapToObjects="1">
      <p:cViewPr>
        <p:scale>
          <a:sx n="90" d="100"/>
          <a:sy n="90" d="100"/>
        </p:scale>
        <p:origin x="4712" y="25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12" d="100"/>
          <a:sy n="112" d="100"/>
        </p:scale>
        <p:origin x="3680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27F17BA-058B-F848-B184-4EC87368E4E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71070D-2CAB-F24F-9EA8-F2F9B0CC6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6B0541-0E19-3140-A75D-83F0091FD087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684A8B-F9AA-BE4C-AED6-C472EDCC972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488501-5C1D-424B-9FA0-018D42C28D2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CAB201-4CB2-A14C-A362-013C9301991E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915B-38F1-BD42-9395-3BB3E674A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989" y="8685213"/>
            <a:ext cx="2210435" cy="439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7215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C6759A-F17A-D54D-8D7A-CB146702B30D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9E7691-A93E-264A-93A6-CD1131F73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5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5988" y="4500748"/>
            <a:ext cx="11234957" cy="1452336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90ACF7-8509-804D-ADEE-C103A3F416A4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569432-77A0-D147-A3F3-E4259A568A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562"/>
          <a:stretch/>
        </p:blipFill>
        <p:spPr>
          <a:xfrm>
            <a:off x="0" y="0"/>
            <a:ext cx="12208412" cy="4500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605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47927-0EFB-1641-A908-E5C6D1390F89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445370A-F3CB-5C43-AFAD-7E7757C35DDA}"/>
              </a:ext>
            </a:extLst>
          </p:cNvPr>
          <p:cNvCxnSpPr>
            <a:cxnSpLocks/>
          </p:cNvCxnSpPr>
          <p:nvPr userDrawn="1"/>
        </p:nvCxnSpPr>
        <p:spPr>
          <a:xfrm>
            <a:off x="486888" y="1360914"/>
            <a:ext cx="1124593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5364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25236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E4535-B45C-AC43-80EF-C36F6F06B5CC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074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7922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7922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23279-6A92-AB4A-ACE8-D7CC6318E237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B86971C-B037-BD42-9950-71F413B85609}"/>
              </a:ext>
            </a:extLst>
          </p:cNvPr>
          <p:cNvCxnSpPr>
            <a:cxnSpLocks/>
          </p:cNvCxnSpPr>
          <p:nvPr userDrawn="1"/>
        </p:nvCxnSpPr>
        <p:spPr>
          <a:xfrm>
            <a:off x="486888" y="1360914"/>
            <a:ext cx="1124593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447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43077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43077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362A-D5F6-D147-9C37-C2BF5798F82E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4852A3-BE0A-F644-A30F-584C34292706}"/>
              </a:ext>
            </a:extLst>
          </p:cNvPr>
          <p:cNvCxnSpPr>
            <a:cxnSpLocks/>
          </p:cNvCxnSpPr>
          <p:nvPr userDrawn="1"/>
        </p:nvCxnSpPr>
        <p:spPr>
          <a:xfrm>
            <a:off x="486888" y="1360914"/>
            <a:ext cx="1124593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2855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07007-DFB5-1143-A47F-992F18F8D679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AD323FC-0A1A-B041-A4EA-FFCF16F46A9A}"/>
              </a:ext>
            </a:extLst>
          </p:cNvPr>
          <p:cNvCxnSpPr>
            <a:cxnSpLocks/>
          </p:cNvCxnSpPr>
          <p:nvPr userDrawn="1"/>
        </p:nvCxnSpPr>
        <p:spPr>
          <a:xfrm>
            <a:off x="486888" y="1360914"/>
            <a:ext cx="1124593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894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14354-62F6-984B-BF35-D97C9CC20F65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56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4A25F4-F421-8242-BCF9-7461269E1E8B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077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8F6B8-5E05-7C41-B4C3-0F4982273E4D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613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8F115-3588-3B45-B776-636411E9CA15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BDAD1CF-C0A8-EF47-AA7B-2F3C34BEE709}"/>
              </a:ext>
            </a:extLst>
          </p:cNvPr>
          <p:cNvCxnSpPr>
            <a:cxnSpLocks/>
          </p:cNvCxnSpPr>
          <p:nvPr userDrawn="1"/>
        </p:nvCxnSpPr>
        <p:spPr>
          <a:xfrm>
            <a:off x="486888" y="1360914"/>
            <a:ext cx="1124593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9747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16D19-42C2-644A-9453-D04259B0A807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96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89259" y="6295490"/>
            <a:ext cx="817418" cy="3651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AB60168D-62F9-8D44-B195-B786236CCD4A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06677" y="6295491"/>
            <a:ext cx="2624447" cy="3651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331124" y="6295490"/>
            <a:ext cx="682920" cy="3651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DD321DBF-325B-3546-BAAF-4F6E3B3181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 descr="Untitled.png" title="Be Boulder."/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289"/>
          <a:stretch/>
        </p:blipFill>
        <p:spPr>
          <a:xfrm>
            <a:off x="9293520" y="6188959"/>
            <a:ext cx="2517480" cy="443402"/>
          </a:xfrm>
          <a:prstGeom prst="rect">
            <a:avLst/>
          </a:prstGeom>
        </p:spPr>
      </p:pic>
      <p:cxnSp>
        <p:nvCxnSpPr>
          <p:cNvPr id="11" name="Straight Connector 10"/>
          <p:cNvCxnSpPr/>
          <p:nvPr userDrawn="1"/>
        </p:nvCxnSpPr>
        <p:spPr>
          <a:xfrm flipV="1">
            <a:off x="457200" y="6081713"/>
            <a:ext cx="11277600" cy="14287"/>
          </a:xfrm>
          <a:prstGeom prst="line">
            <a:avLst/>
          </a:prstGeom>
          <a:ln w="63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59A83AEC-E08D-C149-BA3E-08E40DD1B496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494348" y="6188959"/>
            <a:ext cx="2210435" cy="439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17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i="0" kern="1200">
          <a:solidFill>
            <a:schemeClr val="tx1"/>
          </a:solidFill>
          <a:latin typeface="Helvetica Light" panose="020B0403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urc.readthedocs.io/en/latest/" TargetMode="External"/><Relationship Id="rId2" Type="http://schemas.openxmlformats.org/officeDocument/2006/relationships/hyperlink" Target="http://www.rc.colorado.edu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hyperlink" Target="https://github.com/ResearchComputing/data_transfer_with_globus_quick_byte" TargetMode="External"/><Relationship Id="rId4" Type="http://schemas.openxmlformats.org/officeDocument/2006/relationships/hyperlink" Target="mailto:rc-help@colorado.edu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globus.org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globus.org/globus-connect-persona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lobus.org/how-to/share-files/" TargetMode="External"/><Relationship Id="rId2" Type="http://schemas.openxmlformats.org/officeDocument/2006/relationships/hyperlink" Target="https://scholar.colorado.edu/concern/datasets/9593tw13k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562"/>
          <a:stretch/>
        </p:blipFill>
        <p:spPr>
          <a:xfrm>
            <a:off x="0" y="0"/>
            <a:ext cx="12208412" cy="450074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7094" y="4663861"/>
            <a:ext cx="10505705" cy="1212153"/>
          </a:xfrm>
          <a:effectLst/>
        </p:spPr>
        <p:txBody>
          <a:bodyPr>
            <a:normAutofit/>
          </a:bodyPr>
          <a:lstStyle/>
          <a:p>
            <a:r>
              <a:rPr lang="en-US" sz="6600" dirty="0">
                <a:ln w="0"/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Helvetica Light"/>
                <a:cs typeface="Arial Narrow" panose="020B0604020202020204" pitchFamily="34" charset="0"/>
              </a:rPr>
              <a:t>Data Transfer with Globus</a:t>
            </a:r>
            <a:endParaRPr lang="en-US" sz="6600" dirty="0">
              <a:ln w="0"/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Helvetica Light" panose="020B0403020202020204" pitchFamily="34" charset="0"/>
              <a:cs typeface="Arial Narrow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3206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5182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Instructor: Mohal Khandelwal</a:t>
            </a:r>
          </a:p>
          <a:p>
            <a:pPr marL="17780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177800" lvl="0" indent="-196850" algn="l" rtl="0">
              <a:spcBef>
                <a:spcPts val="800"/>
              </a:spcBef>
              <a:spcAft>
                <a:spcPts val="0"/>
              </a:spcAft>
              <a:buSzPts val="2500"/>
              <a:buFont typeface="Arial"/>
              <a:buChar char="•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Website: </a:t>
            </a:r>
            <a:r>
              <a:rPr lang="en-US" sz="2400" u="sng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2"/>
              </a:rPr>
              <a:t>www.rc.colorado.edu</a:t>
            </a:r>
            <a:endParaRPr lang="en-US" sz="2400" dirty="0">
              <a:solidFill>
                <a:schemeClr val="hlink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7800" lvl="0" indent="-196850" algn="l" rtl="0">
              <a:spcBef>
                <a:spcPts val="800"/>
              </a:spcBef>
              <a:spcAft>
                <a:spcPts val="0"/>
              </a:spcAft>
              <a:buSzPts val="2500"/>
              <a:buFont typeface="Arial"/>
              <a:buChar char="•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Documentation: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  <a:hlinkClick r:id="rId3"/>
              </a:rPr>
              <a:t>https://curc.readthedocs.io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177800" lvl="0" indent="-196850" algn="l" rtl="0">
              <a:spcBef>
                <a:spcPts val="800"/>
              </a:spcBef>
              <a:spcAft>
                <a:spcPts val="0"/>
              </a:spcAft>
              <a:buSzPts val="2500"/>
              <a:buFont typeface="Arial"/>
              <a:buChar char="•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Helpdesk: </a:t>
            </a:r>
            <a:r>
              <a:rPr lang="en-US" sz="2400" u="sng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rc-help@colorado.edu</a:t>
            </a:r>
            <a:endParaRPr lang="en-US" sz="2400" u="sng" dirty="0">
              <a:solidFill>
                <a:schemeClr val="hlink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7800" lvl="0" indent="-196850" algn="l" rtl="0">
              <a:spcBef>
                <a:spcPts val="800"/>
              </a:spcBef>
              <a:spcAft>
                <a:spcPts val="0"/>
              </a:spcAft>
              <a:buSzPts val="2500"/>
              <a:buFont typeface="Arial"/>
              <a:buChar char="•"/>
            </a:pPr>
            <a:r>
              <a:rPr lang="en-US" dirty="0">
                <a:latin typeface="Arial"/>
                <a:cs typeface="Arial"/>
                <a:sym typeface="Arial"/>
              </a:rPr>
              <a:t>Slides</a:t>
            </a: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en-US" u="sng" dirty="0">
                <a:solidFill>
                  <a:schemeClr val="hlink"/>
                </a:solidFill>
                <a:latin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https://github.com/ResearchComputing/data_transfer_with_globus_quick_byte</a:t>
            </a:r>
            <a:r>
              <a:rPr lang="en-US" u="sng" dirty="0">
                <a:solidFill>
                  <a:schemeClr val="hlink"/>
                </a:solidFill>
                <a:latin typeface="Arial"/>
                <a:cs typeface="Arial"/>
                <a:sym typeface="Arial"/>
              </a:rPr>
              <a:t> </a:t>
            </a:r>
          </a:p>
          <a:p>
            <a:pPr marL="0" indent="0">
              <a:buNone/>
            </a:pPr>
            <a:endParaRPr lang="en-US" dirty="0">
              <a:latin typeface="Helvetica"/>
              <a:cs typeface="Helvetica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57397C-DB85-CA45-81F7-95E3A2998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D32BDE-BE16-BF43-A012-67D1154B8217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EF029-AE26-2C46-B5E0-BF9F38015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A4ED4B-B349-404A-A5C5-6D14BE0DC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2</a:t>
            </a:fld>
            <a:endParaRPr lang="en-US"/>
          </a:p>
        </p:txBody>
      </p:sp>
      <p:pic>
        <p:nvPicPr>
          <p:cNvPr id="7" name="Picture 6" descr="Black-and-white QR code designed for github repo link to data transfwe with globus slide">
            <a:extLst>
              <a:ext uri="{FF2B5EF4-FFF2-40B4-BE49-F238E27FC236}">
                <a16:creationId xmlns:a16="http://schemas.microsoft.com/office/drawing/2014/main" id="{88BF2873-066F-D663-1AAE-087A86DE1C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3105" y="1336525"/>
            <a:ext cx="2749716" cy="2724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587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1DF4B-7AA2-8B40-8162-39DDF5CC3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4144B-C67C-3C4C-B875-C74D09C2EC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Helvetica"/>
                <a:cs typeface="Helvetica"/>
              </a:rPr>
              <a:t>Ways to access your data </a:t>
            </a:r>
          </a:p>
          <a:p>
            <a:r>
              <a:rPr lang="en-US" dirty="0">
                <a:latin typeface="Helvetica"/>
                <a:cs typeface="Helvetica"/>
              </a:rPr>
              <a:t>Filesystem structure of CURC resources</a:t>
            </a:r>
          </a:p>
          <a:p>
            <a:r>
              <a:rPr lang="en-US" dirty="0">
                <a:latin typeface="Helvetica"/>
                <a:cs typeface="Helvetica"/>
              </a:rPr>
              <a:t>Data transfer using </a:t>
            </a:r>
            <a:r>
              <a:rPr lang="en-US" dirty="0"/>
              <a:t>Globus </a:t>
            </a:r>
          </a:p>
          <a:p>
            <a:pPr lvl="1"/>
            <a:r>
              <a:rPr lang="en-US" dirty="0"/>
              <a:t>Web-based interface</a:t>
            </a:r>
          </a:p>
          <a:p>
            <a:pPr lvl="1"/>
            <a:r>
              <a:rPr lang="en-US" dirty="0"/>
              <a:t>Local Globus endpoint</a:t>
            </a:r>
          </a:p>
          <a:p>
            <a:pPr lvl="1"/>
            <a:r>
              <a:rPr lang="en-US" dirty="0"/>
              <a:t>Connecting local and CURC endpoints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70CF65-CADC-1B45-85DF-87C6E06B33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99840" y="6295490"/>
            <a:ext cx="906837" cy="365126"/>
          </a:xfrm>
        </p:spPr>
        <p:txBody>
          <a:bodyPr/>
          <a:lstStyle/>
          <a:p>
            <a:fld id="{5A86A22B-AD8E-384B-9CAA-591A655E68BA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E3843A-86B8-4A48-83C9-683C4D9B3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69397-F7F7-3C40-9966-55A0B271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2167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F84C5-1179-4A50-B25E-2BB815B1F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691191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Accessing Data on CURC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E6E6E-17BA-4852-8E41-9AC551E5B1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88018"/>
            <a:ext cx="10515600" cy="358126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600" dirty="0"/>
              <a:t>When you use CURC resources the data is not on your local machine </a:t>
            </a:r>
          </a:p>
          <a:p>
            <a:r>
              <a:rPr lang="en-US" sz="2600" dirty="0"/>
              <a:t>Ways to access the data from your local machine</a:t>
            </a:r>
          </a:p>
          <a:p>
            <a:pPr lvl="1"/>
            <a:r>
              <a:rPr lang="en-US" sz="2600" dirty="0"/>
              <a:t>Command line (a variety of tools)</a:t>
            </a:r>
          </a:p>
          <a:p>
            <a:pPr lvl="1"/>
            <a:r>
              <a:rPr lang="en-US" sz="2600" dirty="0"/>
              <a:t>Open OnDemand (straightforward GUI)</a:t>
            </a:r>
          </a:p>
          <a:p>
            <a:pPr lvl="1"/>
            <a:r>
              <a:rPr lang="en-US" sz="2600" b="1" u="sng" dirty="0"/>
              <a:t>Globus (GUI with some set up required)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13D687-A80D-443C-924E-DB374F2CEA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0" y="6295490"/>
            <a:ext cx="896677" cy="365126"/>
          </a:xfrm>
        </p:spPr>
        <p:txBody>
          <a:bodyPr/>
          <a:lstStyle/>
          <a:p>
            <a:fld id="{30C68051-8C36-924D-9DC9-FF3421124B4C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668AB-E812-46A7-A8B6-38C872002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29982B-EC66-4ACA-B745-583EC1C0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369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153FE-76EB-FF77-5E1C-0594F7F5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736C0-6971-3109-EBB7-D8C638420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Filesystem Structure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6BCE-9B64-45D3-A6AA-F602168C22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79520" y="6295490"/>
            <a:ext cx="927157" cy="365125"/>
          </a:xfrm>
        </p:spPr>
        <p:txBody>
          <a:bodyPr/>
          <a:lstStyle/>
          <a:p>
            <a:fld id="{40A4EC28-D30D-3E48-BD1C-47BA2E742208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DEAFA9-FA17-99C1-9383-161DF50C4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56565B-D98E-AFBE-78DD-BFB14FA09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5</a:t>
            </a:fld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5F8A6AF-6303-7EB7-2C62-67FCC35A3A2F}"/>
              </a:ext>
            </a:extLst>
          </p:cNvPr>
          <p:cNvGrpSpPr/>
          <p:nvPr/>
        </p:nvGrpSpPr>
        <p:grpSpPr>
          <a:xfrm>
            <a:off x="-217589" y="142881"/>
            <a:ext cx="4572000" cy="7272338"/>
            <a:chOff x="36411" y="-342900"/>
            <a:chExt cx="6400800" cy="786879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EAC03FE-89A1-139C-CBD3-456531CA3F4C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 Home</a:t>
              </a:r>
            </a:p>
          </p:txBody>
        </p:sp>
        <p:pic>
          <p:nvPicPr>
            <p:cNvPr id="9" name="Graphic 8" descr="Folder outline">
              <a:extLst>
                <a:ext uri="{FF2B5EF4-FFF2-40B4-BE49-F238E27FC236}">
                  <a16:creationId xmlns:a16="http://schemas.microsoft.com/office/drawing/2014/main" id="{957893DF-BB3C-FF0F-3881-3C91DB3202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1E96129-428B-0A68-BF7C-95A288ED9A86}"/>
              </a:ext>
            </a:extLst>
          </p:cNvPr>
          <p:cNvSpPr txBox="1"/>
          <p:nvPr/>
        </p:nvSpPr>
        <p:spPr>
          <a:xfrm>
            <a:off x="457729" y="2554300"/>
            <a:ext cx="3507874" cy="2626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Personal data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Config files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OnDemand data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Do not share!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022FE28-12C1-8808-37EB-C6E117D33444}"/>
              </a:ext>
            </a:extLst>
          </p:cNvPr>
          <p:cNvGrpSpPr/>
          <p:nvPr/>
        </p:nvGrpSpPr>
        <p:grpSpPr>
          <a:xfrm>
            <a:off x="7665970" y="142880"/>
            <a:ext cx="4572000" cy="7272338"/>
            <a:chOff x="36411" y="-342900"/>
            <a:chExt cx="6400800" cy="786879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E62EAE4-9052-5A2C-E000-DD0D0CC28E3B}"/>
                </a:ext>
              </a:extLst>
            </p:cNvPr>
            <p:cNvSpPr txBox="1"/>
            <p:nvPr/>
          </p:nvSpPr>
          <p:spPr>
            <a:xfrm>
              <a:off x="542176" y="1523685"/>
              <a:ext cx="252375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/>
                <a:t> </a:t>
              </a:r>
              <a:r>
                <a:rPr lang="en-US" sz="2400" b="1"/>
                <a:t>Scratch</a:t>
              </a:r>
              <a:endParaRPr lang="en-US" sz="3200" b="1"/>
            </a:p>
          </p:txBody>
        </p:sp>
        <p:pic>
          <p:nvPicPr>
            <p:cNvPr id="13" name="Graphic 12" descr="Folder outline">
              <a:extLst>
                <a:ext uri="{FF2B5EF4-FFF2-40B4-BE49-F238E27FC236}">
                  <a16:creationId xmlns:a16="http://schemas.microsoft.com/office/drawing/2014/main" id="{F27BE88F-C17F-B45C-C209-41A92132D2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1C5E2ED-4B80-DD69-19B7-B34D4FEFCF5F}"/>
              </a:ext>
            </a:extLst>
          </p:cNvPr>
          <p:cNvGrpSpPr/>
          <p:nvPr/>
        </p:nvGrpSpPr>
        <p:grpSpPr>
          <a:xfrm>
            <a:off x="3772013" y="142880"/>
            <a:ext cx="4572000" cy="7272339"/>
            <a:chOff x="36411" y="-342900"/>
            <a:chExt cx="6400800" cy="786879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0994521-A73E-8036-795F-65BBE5981F23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Projects</a:t>
              </a:r>
            </a:p>
          </p:txBody>
        </p:sp>
        <p:pic>
          <p:nvPicPr>
            <p:cNvPr id="16" name="Graphic 15" descr="Folder outline">
              <a:extLst>
                <a:ext uri="{FF2B5EF4-FFF2-40B4-BE49-F238E27FC236}">
                  <a16:creationId xmlns:a16="http://schemas.microsoft.com/office/drawing/2014/main" id="{4D4F657D-4374-4351-7855-731DBFEF14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E5AF6A3F-24C8-D025-0F38-231030773C12}"/>
              </a:ext>
            </a:extLst>
          </p:cNvPr>
          <p:cNvSpPr txBox="1"/>
          <p:nvPr/>
        </p:nvSpPr>
        <p:spPr>
          <a:xfrm>
            <a:off x="4444760" y="2554300"/>
            <a:ext cx="3507874" cy="2100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Code, Job scripts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Installed software 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Shared data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2851F3-DE35-DF0C-0B1C-FB11E458E1FB}"/>
              </a:ext>
            </a:extLst>
          </p:cNvPr>
          <p:cNvSpPr txBox="1"/>
          <p:nvPr/>
        </p:nvSpPr>
        <p:spPr>
          <a:xfrm>
            <a:off x="8344013" y="2471754"/>
            <a:ext cx="3507874" cy="25494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Job data (in/out)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Shared data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Deleted after      90 days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E7C3B2-38F7-6079-8A11-55798C343B6C}"/>
              </a:ext>
            </a:extLst>
          </p:cNvPr>
          <p:cNvSpPr txBox="1"/>
          <p:nvPr/>
        </p:nvSpPr>
        <p:spPr>
          <a:xfrm>
            <a:off x="1441696" y="4857494"/>
            <a:ext cx="1261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/>
              <a:t>2 GB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9E6ECE-31DF-7D53-4AA3-BB344C2695AA}"/>
              </a:ext>
            </a:extLst>
          </p:cNvPr>
          <p:cNvSpPr txBox="1"/>
          <p:nvPr/>
        </p:nvSpPr>
        <p:spPr>
          <a:xfrm>
            <a:off x="5170591" y="4835823"/>
            <a:ext cx="17748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/>
              <a:t>250 GB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348B0A-2DE4-F388-8513-0F1FCF3BB1F5}"/>
              </a:ext>
            </a:extLst>
          </p:cNvPr>
          <p:cNvSpPr txBox="1"/>
          <p:nvPr/>
        </p:nvSpPr>
        <p:spPr>
          <a:xfrm>
            <a:off x="9231260" y="4831491"/>
            <a:ext cx="14414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/>
              <a:t>10 TB</a:t>
            </a:r>
          </a:p>
        </p:txBody>
      </p:sp>
    </p:spTree>
    <p:extLst>
      <p:ext uri="{BB962C8B-B14F-4D97-AF65-F5344CB8AC3E}">
        <p14:creationId xmlns:p14="http://schemas.microsoft.com/office/powerpoint/2010/main" val="2389680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4F94B-7697-4EF8-9AB1-8C12E132A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 option - Globus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603FE-E471-44DA-BC33-ABE088257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835"/>
            <a:ext cx="10515600" cy="443079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Helvetica"/>
                <a:cs typeface="Helvetica"/>
              </a:rPr>
              <a:t>Globus is a service that allows for users to reliably move, share, and discover data</a:t>
            </a:r>
          </a:p>
          <a:p>
            <a:r>
              <a:rPr lang="en-US" dirty="0">
                <a:latin typeface="Helvetica"/>
                <a:cs typeface="Helvetica"/>
              </a:rPr>
              <a:t>Command line version is also available </a:t>
            </a:r>
          </a:p>
          <a:p>
            <a:r>
              <a:rPr lang="en-US" dirty="0">
                <a:latin typeface="Helvetica"/>
                <a:cs typeface="Helvetica"/>
              </a:rPr>
              <a:t>Our recommended way to transfer data </a:t>
            </a:r>
            <a:endParaRPr lang="en-US" dirty="0">
              <a:cs typeface="Helvetica"/>
            </a:endParaRPr>
          </a:p>
          <a:p>
            <a:pPr lvl="1"/>
            <a:r>
              <a:rPr lang="en-US" dirty="0"/>
              <a:t>Stable and fast data transfers</a:t>
            </a:r>
          </a:p>
          <a:p>
            <a:pPr lvl="1"/>
            <a:r>
              <a:rPr lang="en-US" dirty="0"/>
              <a:t>Transfers continue if a user disconnects</a:t>
            </a:r>
          </a:p>
          <a:p>
            <a:pPr lvl="1"/>
            <a:r>
              <a:rPr lang="en-US" dirty="0">
                <a:latin typeface="Helvetica"/>
                <a:cs typeface="Helvetica"/>
              </a:rPr>
              <a:t>Web GUI or Globus Connect Personal GUI</a:t>
            </a:r>
          </a:p>
          <a:p>
            <a:r>
              <a:rPr lang="en-US" dirty="0">
                <a:latin typeface="Helvetica"/>
                <a:cs typeface="Helvetica"/>
              </a:rPr>
              <a:t>Supported on all major operating systems</a:t>
            </a:r>
          </a:p>
          <a:p>
            <a:pPr lvl="1"/>
            <a:r>
              <a:rPr lang="en-US" dirty="0">
                <a:latin typeface="Helvetica"/>
                <a:cs typeface="Helvetica"/>
              </a:rPr>
              <a:t>Works well with cloud storage providers</a:t>
            </a:r>
          </a:p>
          <a:p>
            <a:pPr lvl="1"/>
            <a:endParaRPr lang="en-US" dirty="0">
              <a:latin typeface="Helvetica"/>
              <a:cs typeface="Helvetica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0F090B-B9C3-4B28-8BAB-DA4372685B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79520" y="6295490"/>
            <a:ext cx="927157" cy="365126"/>
          </a:xfrm>
        </p:spPr>
        <p:txBody>
          <a:bodyPr/>
          <a:lstStyle/>
          <a:p>
            <a:fld id="{6D3CEFA6-1ADB-854E-9A60-5C1B328AD313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E45ADC-5C02-465D-8DE5-648DF9DE6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FADCDA-898F-4AEC-908B-15D76F0B0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6</a:t>
            </a:fld>
            <a:endParaRPr lang="en-US"/>
          </a:p>
        </p:txBody>
      </p:sp>
      <p:pic>
        <p:nvPicPr>
          <p:cNvPr id="14" name="Picture 13" descr="Logo graphic for Globus featuring a stylized blue cloud and globe on a black background. Blue “globus” lettering appears below, with a small registered trademark symbol near upper-right cloud edge.&#10;">
            <a:extLst>
              <a:ext uri="{FF2B5EF4-FFF2-40B4-BE49-F238E27FC236}">
                <a16:creationId xmlns:a16="http://schemas.microsoft.com/office/drawing/2014/main" id="{49B39811-EC40-4EE9-9890-908A598E2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8800" y="3740233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516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FC202-DADB-4548-8531-414B1195F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Globus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1E7F7A-C855-4D2B-97B5-8656E98D3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282" y="2390169"/>
            <a:ext cx="10651435" cy="242037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/>
              <a:t>Logging into the web-based interface for Globus </a:t>
            </a:r>
          </a:p>
          <a:p>
            <a:pPr lvl="1"/>
            <a:r>
              <a:rPr lang="en-US" sz="2400" dirty="0"/>
              <a:t>Provides a nice GUI for managing files on CURC resources</a:t>
            </a:r>
          </a:p>
          <a:p>
            <a:pPr marL="457200" lvl="1" indent="0">
              <a:buNone/>
            </a:pPr>
            <a:endParaRPr lang="en-US" sz="2400" dirty="0"/>
          </a:p>
          <a:p>
            <a:r>
              <a:rPr lang="en-US" sz="3200" dirty="0"/>
              <a:t>Installing a Globus Endpoint on your local machine</a:t>
            </a:r>
          </a:p>
          <a:p>
            <a:pPr lvl="1"/>
            <a:r>
              <a:rPr lang="en-US" sz="2400" dirty="0"/>
              <a:t>Allows you to interact with files on your local machine via Globus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20F75C-A166-481E-9B0D-991F7F1D0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79520" y="6295490"/>
            <a:ext cx="927157" cy="365125"/>
          </a:xfrm>
        </p:spPr>
        <p:txBody>
          <a:bodyPr/>
          <a:lstStyle/>
          <a:p>
            <a:fld id="{E66917AC-E603-BC4C-BEC0-77966493CEBD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5AC1EE-FA8F-49D9-82AD-4F0FB1B43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9CB23-D332-4962-81EE-5B8849214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419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FC202-DADB-4548-8531-414B1195F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Globus Web-based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1E7F7A-C855-4D2B-97B5-8656E98D3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51435" cy="416312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Globus login is simple and quick</a:t>
            </a:r>
          </a:p>
          <a:p>
            <a:pPr marL="0" indent="0">
              <a:buNone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Helvetica"/>
                <a:cs typeface="Helvetica"/>
              </a:rPr>
              <a:t>Navigate to </a:t>
            </a:r>
            <a:r>
              <a:rPr lang="en-US" dirty="0">
                <a:hlinkClick r:id="rId2"/>
              </a:rPr>
              <a:t>https://app.globus.org </a:t>
            </a:r>
            <a:endParaRPr lang="en-US" dirty="0"/>
          </a:p>
          <a:p>
            <a:pPr lvl="2"/>
            <a:r>
              <a:rPr lang="en-US" dirty="0">
                <a:latin typeface="Helvetica"/>
                <a:cs typeface="Helvetica"/>
              </a:rPr>
              <a:t>CU Boulder users </a:t>
            </a:r>
          </a:p>
          <a:p>
            <a:pPr lvl="3"/>
            <a:r>
              <a:rPr lang="en-US" dirty="0">
                <a:latin typeface="Helvetica"/>
                <a:cs typeface="Helvetica"/>
              </a:rPr>
              <a:t>Select “University of Colorado at Boulder” in the dropdown menu</a:t>
            </a:r>
          </a:p>
          <a:p>
            <a:pPr lvl="2"/>
            <a:r>
              <a:rPr lang="en-US" dirty="0">
                <a:latin typeface="Helvetica"/>
                <a:cs typeface="Helvetica"/>
              </a:rPr>
              <a:t>CSU users</a:t>
            </a:r>
          </a:p>
          <a:p>
            <a:pPr lvl="3"/>
            <a:r>
              <a:rPr lang="en-US" dirty="0">
                <a:latin typeface="Helvetica"/>
                <a:cs typeface="Helvetica"/>
              </a:rPr>
              <a:t>Select “Colorado State University”</a:t>
            </a:r>
          </a:p>
          <a:p>
            <a:pPr lvl="2"/>
            <a:r>
              <a:rPr lang="en-US" dirty="0">
                <a:latin typeface="Helvetica"/>
                <a:cs typeface="Helvetica"/>
              </a:rPr>
              <a:t>AMC and RMACC users </a:t>
            </a:r>
          </a:p>
          <a:p>
            <a:pPr lvl="3"/>
            <a:r>
              <a:rPr lang="en-US" dirty="0">
                <a:latin typeface="Helvetica"/>
                <a:cs typeface="Helvetica"/>
              </a:rPr>
              <a:t>Select “ACCESS CI (formerly XSEDE)”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Login with your credentials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Continue with onscreen prompts until you are brought to the Globus Web GUI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20F75C-A166-481E-9B0D-991F7F1D0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69360" y="6295490"/>
            <a:ext cx="937317" cy="365125"/>
          </a:xfrm>
        </p:spPr>
        <p:txBody>
          <a:bodyPr/>
          <a:lstStyle/>
          <a:p>
            <a:fld id="{C9F6341F-5955-F84F-86D1-08BD538A50F4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5AC1EE-FA8F-49D9-82AD-4F0FB1B43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9CB23-D332-4962-81EE-5B8849214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989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C90EC7-8408-23FA-B291-70F16C8E9A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59200" y="6295490"/>
            <a:ext cx="947477" cy="365126"/>
          </a:xfrm>
        </p:spPr>
        <p:txBody>
          <a:bodyPr/>
          <a:lstStyle/>
          <a:p>
            <a:fld id="{37D0305B-CE47-DE4C-A200-81FBB40D8690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29B3B-74C5-E533-A2C0-1162579E8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D009A7-125C-AD00-B217-5E72B06A3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A912ED-1A20-747F-8F97-77B311DDC069}"/>
              </a:ext>
            </a:extLst>
          </p:cNvPr>
          <p:cNvSpPr txBox="1"/>
          <p:nvPr/>
        </p:nvSpPr>
        <p:spPr>
          <a:xfrm>
            <a:off x="2706094" y="1797784"/>
            <a:ext cx="60960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dirty="0"/>
              <a:t>Globus Web GUI</a:t>
            </a:r>
          </a:p>
          <a:p>
            <a:pPr algn="ctr"/>
            <a:r>
              <a:rPr lang="en-US" sz="4000" dirty="0"/>
              <a:t>Let’s take a look!</a:t>
            </a:r>
          </a:p>
        </p:txBody>
      </p:sp>
    </p:spTree>
    <p:extLst>
      <p:ext uri="{BB962C8B-B14F-4D97-AF65-F5344CB8AC3E}">
        <p14:creationId xmlns:p14="http://schemas.microsoft.com/office/powerpoint/2010/main" val="2139857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FC202-DADB-4548-8531-414B1195F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Local Globus Endpoint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1E7F7A-C855-4D2B-97B5-8656E98D3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51435" cy="160337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Required if you want to transfer data between your machine and CURC resources</a:t>
            </a:r>
          </a:p>
          <a:p>
            <a:r>
              <a:rPr lang="en-US" dirty="0"/>
              <a:t>Navigate to </a:t>
            </a:r>
            <a:r>
              <a:rPr lang="en-US" dirty="0">
                <a:hlinkClick r:id="rId2"/>
              </a:rPr>
              <a:t>https://www.globus.org/globus-connect-personal</a:t>
            </a:r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20F75C-A166-481E-9B0D-991F7F1D0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28720" y="6295490"/>
            <a:ext cx="977957" cy="365126"/>
          </a:xfrm>
        </p:spPr>
        <p:txBody>
          <a:bodyPr/>
          <a:lstStyle/>
          <a:p>
            <a:fld id="{1C42FB8C-C6B5-BB4E-B33E-A97136098353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5AC1EE-FA8F-49D9-82AD-4F0FB1B43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9CB23-D332-4962-81EE-5B8849214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10</a:t>
            </a:fld>
            <a:endParaRPr lang="en-US"/>
          </a:p>
        </p:txBody>
      </p:sp>
      <p:pic>
        <p:nvPicPr>
          <p:cNvPr id="8" name="Picture 7" descr="Screenshot of Globus Connect Personal download page, offering desktop applications for Mac, Windows, and Linux. Three labeled cards show platform icons, Mac OS X 10.9 or newer support, currently supported Windows versions, common x86 Linux distributions, and “Install Now” links.">
            <a:extLst>
              <a:ext uri="{FF2B5EF4-FFF2-40B4-BE49-F238E27FC236}">
                <a16:creationId xmlns:a16="http://schemas.microsoft.com/office/drawing/2014/main" id="{17C27E1A-7DF7-8904-4EF6-FE21327C1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885" y="3203960"/>
            <a:ext cx="6614230" cy="2835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260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2B326-E033-F9CF-4B20-438530260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Globus Endpoint-Installed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F88AC-F9FB-D6B9-0891-57447C1C6A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56648"/>
          </a:xfrm>
        </p:spPr>
        <p:txBody>
          <a:bodyPr>
            <a:normAutofit/>
          </a:bodyPr>
          <a:lstStyle/>
          <a:p>
            <a:r>
              <a:rPr lang="en-US" dirty="0"/>
              <a:t>For “Collection Name” you can use anything name you would like</a:t>
            </a:r>
          </a:p>
          <a:p>
            <a:pPr lvl="1"/>
            <a:r>
              <a:rPr lang="en-US" dirty="0"/>
              <a:t>You will use this as a reference name later, so please remember it!</a:t>
            </a:r>
          </a:p>
          <a:p>
            <a:r>
              <a:rPr lang="en-US" dirty="0"/>
              <a:t>For Mac and Windows, it is easy to see that Globus has been installed: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B7991-3C14-72EF-28C2-87219F038F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69360" y="6295490"/>
            <a:ext cx="937317" cy="365126"/>
          </a:xfrm>
        </p:spPr>
        <p:txBody>
          <a:bodyPr/>
          <a:lstStyle/>
          <a:p>
            <a:fld id="{DBD15441-ED30-C147-A32A-AA1C679B86B1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B08ADC-B254-97B4-AD08-7598D2FDC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47B898-2F3B-9385-1A44-F7C49F3F0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11</a:t>
            </a:fld>
            <a:endParaRPr lang="en-US"/>
          </a:p>
        </p:txBody>
      </p:sp>
      <p:pic>
        <p:nvPicPr>
          <p:cNvPr id="8" name="Picture 7" descr="Screenshot of a toolbar showing several service and utility icons. A red arrow points to a black circular icon labeled “G,” alongside gray icons for cloud storage, links, information, sharing, and history.&#10;">
            <a:extLst>
              <a:ext uri="{FF2B5EF4-FFF2-40B4-BE49-F238E27FC236}">
                <a16:creationId xmlns:a16="http://schemas.microsoft.com/office/drawing/2014/main" id="{F1069545-9130-C207-BE1D-401AC7981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704" y="3342154"/>
            <a:ext cx="4014118" cy="743355"/>
          </a:xfrm>
          <a:prstGeom prst="rect">
            <a:avLst/>
          </a:prstGeom>
        </p:spPr>
      </p:pic>
      <p:pic>
        <p:nvPicPr>
          <p:cNvPr id="10" name="Picture 9" descr="Screenshot of a Windows taskbar showing system-tray controls and notification icons. A red arrow points to a blue circular “g” icon beside mail, battery, other">
            <a:extLst>
              <a:ext uri="{FF2B5EF4-FFF2-40B4-BE49-F238E27FC236}">
                <a16:creationId xmlns:a16="http://schemas.microsoft.com/office/drawing/2014/main" id="{EDE6A064-3EF8-3690-6B77-A6C12FE2C3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303" y="3229347"/>
            <a:ext cx="3279584" cy="968968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35CB6D8-7BCC-B350-5780-D84985450255}"/>
              </a:ext>
            </a:extLst>
          </p:cNvPr>
          <p:cNvSpPr txBox="1">
            <a:spLocks/>
          </p:cNvSpPr>
          <p:nvPr/>
        </p:nvSpPr>
        <p:spPr>
          <a:xfrm>
            <a:off x="838200" y="4745250"/>
            <a:ext cx="10515600" cy="68698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Linux, at the end of the installation, the setup will exit with a message stating it was successfully set up and the main Globus Connect Personal application will launch </a:t>
            </a:r>
          </a:p>
        </p:txBody>
      </p:sp>
    </p:spTree>
    <p:extLst>
      <p:ext uri="{BB962C8B-B14F-4D97-AF65-F5344CB8AC3E}">
        <p14:creationId xmlns:p14="http://schemas.microsoft.com/office/powerpoint/2010/main" val="3455067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292DE-DCAC-44E7-B135-227E4CEB9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Globus Endpoint-Configure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F3D631-E67D-8B58-82F3-29D5CC9B5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9636"/>
            <a:ext cx="10515600" cy="4163129"/>
          </a:xfrm>
        </p:spPr>
        <p:txBody>
          <a:bodyPr/>
          <a:lstStyle/>
          <a:p>
            <a:r>
              <a:rPr lang="en-US" dirty="0"/>
              <a:t>Once the Globus endpoint has been installed on your computer, you then need to configure it. </a:t>
            </a:r>
          </a:p>
          <a:p>
            <a:r>
              <a:rPr lang="en-US" dirty="0"/>
              <a:t>On Mac and Windows follow the “Configuration” section</a:t>
            </a:r>
          </a:p>
          <a:p>
            <a:r>
              <a:rPr lang="en-US" dirty="0"/>
              <a:t>On Linux follow the “Running” section</a:t>
            </a:r>
          </a:p>
          <a:p>
            <a:r>
              <a:rPr lang="en-US" u="sng" dirty="0"/>
              <a:t>During Configuration you will need to let Globus know what directories or files it can have access to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DCAF4-98DE-AF3C-7C18-2B5674B28C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28720" y="6295490"/>
            <a:ext cx="977957" cy="365126"/>
          </a:xfrm>
        </p:spPr>
        <p:txBody>
          <a:bodyPr/>
          <a:lstStyle/>
          <a:p>
            <a:fld id="{093E7D97-38F0-AF4A-AD31-E5F2D7E8DFEA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01462-49FE-7812-DE51-75C40D1E6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6A69E9-82CA-20FE-11B1-CD7554C51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12</a:t>
            </a:fld>
            <a:endParaRPr lang="en-US"/>
          </a:p>
        </p:txBody>
      </p:sp>
      <p:pic>
        <p:nvPicPr>
          <p:cNvPr id="8" name="Picture 7" descr="Screenshot of a Zoom application menu showing “my_local_computer” with status “Idle.” Brown menu lists Pause, Web: Transfer Files, Web: Activity, Web: Collection Details, Check for Updates, and blue-highlighted Preferences.">
            <a:extLst>
              <a:ext uri="{FF2B5EF4-FFF2-40B4-BE49-F238E27FC236}">
                <a16:creationId xmlns:a16="http://schemas.microsoft.com/office/drawing/2014/main" id="{5582F789-6DB0-8904-DF5D-F4A69AAB7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082" y="4206816"/>
            <a:ext cx="1708577" cy="1648274"/>
          </a:xfrm>
          <a:prstGeom prst="rect">
            <a:avLst/>
          </a:prstGeom>
        </p:spPr>
      </p:pic>
      <p:pic>
        <p:nvPicPr>
          <p:cNvPr id="10" name="Picture 9" descr="Screenshot of File Accessibility settings on Access tab, showing accessible directories and files. Listed path `/Users/brre2566` has sharing disabled and writing enabled, while “Deny access to hidden files” remains checked.">
            <a:extLst>
              <a:ext uri="{FF2B5EF4-FFF2-40B4-BE49-F238E27FC236}">
                <a16:creationId xmlns:a16="http://schemas.microsoft.com/office/drawing/2014/main" id="{61E7B072-44E6-AED7-7AB6-35D198347D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8900" y="4092780"/>
            <a:ext cx="3298018" cy="1876347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1389064-2770-6E15-D3D4-5A60A71994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977517" y="5030953"/>
            <a:ext cx="7474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ED60AF82-7C82-FBEC-9C7D-51C4314BFA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951305" y="4109258"/>
            <a:ext cx="341906" cy="32270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EC29DB3-A5F9-E518-7768-FF5943C35E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8293211" y="4270612"/>
            <a:ext cx="177314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B3966A1-D88F-F7B5-EE98-C4E72658BFA3}"/>
              </a:ext>
            </a:extLst>
          </p:cNvPr>
          <p:cNvSpPr txBox="1"/>
          <p:nvPr/>
        </p:nvSpPr>
        <p:spPr>
          <a:xfrm>
            <a:off x="9592743" y="4310889"/>
            <a:ext cx="20550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Select the “Access” tab and add folders you want to be accessible by Globus</a:t>
            </a:r>
          </a:p>
        </p:txBody>
      </p:sp>
    </p:spTree>
    <p:extLst>
      <p:ext uri="{BB962C8B-B14F-4D97-AF65-F5344CB8AC3E}">
        <p14:creationId xmlns:p14="http://schemas.microsoft.com/office/powerpoint/2010/main" val="112398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8A6F-4468-EFBC-8593-F393676B2C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99840" y="6295490"/>
            <a:ext cx="906837" cy="365126"/>
          </a:xfrm>
        </p:spPr>
        <p:txBody>
          <a:bodyPr/>
          <a:lstStyle/>
          <a:p>
            <a:fld id="{4736979D-4B99-A544-B14A-30DD3ABBAF34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BDA492-77C5-0269-0E0A-DEF57BD1D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1209E6-F083-5AA9-0461-9DDDC5228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13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95FC9F-B5E0-83BF-4DA9-2887493F41E5}"/>
              </a:ext>
            </a:extLst>
          </p:cNvPr>
          <p:cNvSpPr txBox="1"/>
          <p:nvPr/>
        </p:nvSpPr>
        <p:spPr>
          <a:xfrm>
            <a:off x="756236" y="2721114"/>
            <a:ext cx="106795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Connecting local endpoint to CURC resources</a:t>
            </a:r>
          </a:p>
        </p:txBody>
      </p:sp>
    </p:spTree>
    <p:extLst>
      <p:ext uri="{BB962C8B-B14F-4D97-AF65-F5344CB8AC3E}">
        <p14:creationId xmlns:p14="http://schemas.microsoft.com/office/powerpoint/2010/main" val="25950863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37C923-D0D3-C6D0-861E-4D3BA83956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00138" y="6295490"/>
            <a:ext cx="906539" cy="365125"/>
          </a:xfrm>
        </p:spPr>
        <p:txBody>
          <a:bodyPr/>
          <a:lstStyle/>
          <a:p>
            <a:fld id="{0D09513E-8BC3-C54A-8B0A-40ED92A3EA77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4419D7-6E1F-5D85-0CEE-B09F891FB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EA451D-78CC-4ED6-C915-D3F26AC69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14</a:t>
            </a:fld>
            <a:endParaRPr lang="en-US"/>
          </a:p>
        </p:txBody>
      </p:sp>
      <p:pic>
        <p:nvPicPr>
          <p:cNvPr id="6" name="Picture 5" descr="Screenshot of a “Panels” layout selector in a user interface. Three layout icons appear in a horizontal control, with center two-panel option highlighted.&#10;">
            <a:extLst>
              <a:ext uri="{FF2B5EF4-FFF2-40B4-BE49-F238E27FC236}">
                <a16:creationId xmlns:a16="http://schemas.microsoft.com/office/drawing/2014/main" id="{B2E10045-C2B2-5B63-5E51-D959DF3D9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7218" y="574932"/>
            <a:ext cx="2981132" cy="727598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635A433C-F4B3-EBF2-3263-8E92FB80C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89432" y="751848"/>
            <a:ext cx="472814" cy="41849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5DBDFB-7465-FA0E-0FC2-23CB34111F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7" idx="6"/>
            <a:endCxn id="10" idx="1"/>
          </p:cNvCxnSpPr>
          <p:nvPr/>
        </p:nvCxnSpPr>
        <p:spPr>
          <a:xfrm>
            <a:off x="4762246" y="961094"/>
            <a:ext cx="96210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BC3310E-E95B-9FD5-9519-91FC74883783}"/>
              </a:ext>
            </a:extLst>
          </p:cNvPr>
          <p:cNvSpPr txBox="1"/>
          <p:nvPr/>
        </p:nvSpPr>
        <p:spPr>
          <a:xfrm>
            <a:off x="5724354" y="637928"/>
            <a:ext cx="3220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1: Select “set two pane” in the upper right corner</a:t>
            </a:r>
          </a:p>
        </p:txBody>
      </p:sp>
      <p:pic>
        <p:nvPicPr>
          <p:cNvPr id="15" name="Picture 14" descr="Screenshot of a file-collection interface with Collection search and Path fields, plus a blue Start button with play icon. Dark-blue toolbar offers select all, up one folder, refresh list, and filter controls.">
            <a:extLst>
              <a:ext uri="{FF2B5EF4-FFF2-40B4-BE49-F238E27FC236}">
                <a16:creationId xmlns:a16="http://schemas.microsoft.com/office/drawing/2014/main" id="{3ECB5C6C-B092-9D8C-292D-0CA60B2870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82"/>
          <a:stretch/>
        </p:blipFill>
        <p:spPr>
          <a:xfrm>
            <a:off x="2426129" y="1958910"/>
            <a:ext cx="4913906" cy="1440576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4230594A-600F-19B6-D1CE-EC15BC49F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417218" y="2048142"/>
            <a:ext cx="1382920" cy="2442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3C119AD-4A0F-AA65-5C69-4CAF52185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16" idx="6"/>
            <a:endCxn id="20" idx="1"/>
          </p:cNvCxnSpPr>
          <p:nvPr/>
        </p:nvCxnSpPr>
        <p:spPr>
          <a:xfrm>
            <a:off x="3800138" y="2170268"/>
            <a:ext cx="4222817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E9500CD-2D3C-B3B1-4F15-B8003C39B1FB}"/>
              </a:ext>
            </a:extLst>
          </p:cNvPr>
          <p:cNvSpPr txBox="1"/>
          <p:nvPr/>
        </p:nvSpPr>
        <p:spPr>
          <a:xfrm>
            <a:off x="8022955" y="1847102"/>
            <a:ext cx="25603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2: In the left pane click the search bar</a:t>
            </a:r>
          </a:p>
        </p:txBody>
      </p:sp>
      <p:pic>
        <p:nvPicPr>
          <p:cNvPr id="30" name="Picture 29" descr="Screenshot of a collection search interface showing “CU Boulder Research Computing.” Result lists managed mapped collection on CU Boulder Research Computing DTN23, owner colorado@globus.org, domain n-9145f6.3d2b.75bc.data.globus.org, and description enabling access to CURC Resources.">
            <a:extLst>
              <a:ext uri="{FF2B5EF4-FFF2-40B4-BE49-F238E27FC236}">
                <a16:creationId xmlns:a16="http://schemas.microsoft.com/office/drawing/2014/main" id="{6432E617-F6BF-E4CF-D01F-6CDD96EFE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6129" y="3967686"/>
            <a:ext cx="4729353" cy="1722012"/>
          </a:xfrm>
          <a:prstGeom prst="rect">
            <a:avLst/>
          </a:prstGeom>
        </p:spPr>
      </p:pic>
      <p:sp>
        <p:nvSpPr>
          <p:cNvPr id="31" name="Oval 30">
            <a:extLst>
              <a:ext uri="{FF2B5EF4-FFF2-40B4-BE49-F238E27FC236}">
                <a16:creationId xmlns:a16="http://schemas.microsoft.com/office/drawing/2014/main" id="{B18897DF-DD88-4706-55CC-773D232158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482484" y="3930094"/>
            <a:ext cx="3043671" cy="65803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3753D01C-2304-3243-5CFA-05DE7610F4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32894" y="4828692"/>
            <a:ext cx="2122588" cy="42807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72F869D-777B-9130-B72E-1857F10D0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31" idx="6"/>
            <a:endCxn id="36" idx="1"/>
          </p:cNvCxnSpPr>
          <p:nvPr/>
        </p:nvCxnSpPr>
        <p:spPr>
          <a:xfrm flipV="1">
            <a:off x="5526155" y="4253260"/>
            <a:ext cx="2784372" cy="585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B902185-7965-D0E6-B52F-6336B383AAB6}"/>
              </a:ext>
            </a:extLst>
          </p:cNvPr>
          <p:cNvSpPr txBox="1"/>
          <p:nvPr/>
        </p:nvSpPr>
        <p:spPr>
          <a:xfrm>
            <a:off x="8310527" y="3930094"/>
            <a:ext cx="31075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3: Search “CU Boulder Research Computing”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BAD56D1-5E24-C8BF-3374-FDE7C1898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32" idx="6"/>
            <a:endCxn id="47" idx="1"/>
          </p:cNvCxnSpPr>
          <p:nvPr/>
        </p:nvCxnSpPr>
        <p:spPr>
          <a:xfrm flipV="1">
            <a:off x="7155482" y="5042730"/>
            <a:ext cx="1052992" cy="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7F73CC05-9CEB-E8DC-7EE4-2F1D2BEA7D37}"/>
              </a:ext>
            </a:extLst>
          </p:cNvPr>
          <p:cNvSpPr txBox="1"/>
          <p:nvPr/>
        </p:nvSpPr>
        <p:spPr>
          <a:xfrm>
            <a:off x="8208474" y="4719564"/>
            <a:ext cx="2470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Make sure you are using DTN23!</a:t>
            </a:r>
          </a:p>
        </p:txBody>
      </p:sp>
    </p:spTree>
    <p:extLst>
      <p:ext uri="{BB962C8B-B14F-4D97-AF65-F5344CB8AC3E}">
        <p14:creationId xmlns:p14="http://schemas.microsoft.com/office/powerpoint/2010/main" val="17748016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D46B2C-A68F-05A8-6530-9A3B8DC66E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18560" y="6295490"/>
            <a:ext cx="988117" cy="365126"/>
          </a:xfrm>
        </p:spPr>
        <p:txBody>
          <a:bodyPr/>
          <a:lstStyle/>
          <a:p>
            <a:fld id="{017B6B50-E2E0-5340-9D35-FDC5CD864318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F6DF57-3BC8-DC3D-086B-458F7F514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7FC60-39FA-CAC6-08CE-2A7F612CF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 descr="Screenshot of a search interface with two horizontal input fields. Upper field includes magnifying-glass icon and blue “Search” label, while lower field remains empty; bookmark icons appear along both sides.">
            <a:extLst>
              <a:ext uri="{FF2B5EF4-FFF2-40B4-BE49-F238E27FC236}">
                <a16:creationId xmlns:a16="http://schemas.microsoft.com/office/drawing/2014/main" id="{C235813E-5E43-5949-A221-0BC96538D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926" y="790492"/>
            <a:ext cx="5997492" cy="796127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08EF2C4F-B22A-D579-C19C-C642D24CF6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47450" y="873318"/>
            <a:ext cx="942526" cy="41849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8C2B425-DA19-A961-43F0-09E22DED0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7" idx="6"/>
          </p:cNvCxnSpPr>
          <p:nvPr/>
        </p:nvCxnSpPr>
        <p:spPr>
          <a:xfrm>
            <a:off x="2289976" y="1082564"/>
            <a:ext cx="5788549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F4AA190-D915-FB14-7987-D2A36084302E}"/>
              </a:ext>
            </a:extLst>
          </p:cNvPr>
          <p:cNvSpPr txBox="1"/>
          <p:nvPr/>
        </p:nvSpPr>
        <p:spPr>
          <a:xfrm>
            <a:off x="8246916" y="759398"/>
            <a:ext cx="31075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4: In the right pane, click on “Search”</a:t>
            </a:r>
          </a:p>
        </p:txBody>
      </p:sp>
      <p:pic>
        <p:nvPicPr>
          <p:cNvPr id="17" name="Picture 16" descr="Screenshot of a data-collection selection interface for browsing or choosing collections. Tabs include Recent, Bookmarks, Your Collections, and Shared With You, with “my_local_computer” listed under Your Collections.">
            <a:extLst>
              <a:ext uri="{FF2B5EF4-FFF2-40B4-BE49-F238E27FC236}">
                <a16:creationId xmlns:a16="http://schemas.microsoft.com/office/drawing/2014/main" id="{FB6C5242-1109-D24F-BC9A-28F9D4134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926" y="2248430"/>
            <a:ext cx="4874868" cy="2361139"/>
          </a:xfrm>
          <a:prstGeom prst="rect">
            <a:avLst/>
          </a:pr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E483B2D-1D93-FE26-0523-3CA4D92B37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75937" y="3112807"/>
            <a:ext cx="1327867" cy="41849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530D5CA-740B-2206-5D60-D28CB563D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18" idx="6"/>
            <a:endCxn id="22" idx="1"/>
          </p:cNvCxnSpPr>
          <p:nvPr/>
        </p:nvCxnSpPr>
        <p:spPr>
          <a:xfrm>
            <a:off x="4603804" y="3322053"/>
            <a:ext cx="2157011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37E66DB-4ABC-17B1-F3F2-1CA4AD52C14C}"/>
              </a:ext>
            </a:extLst>
          </p:cNvPr>
          <p:cNvSpPr txBox="1"/>
          <p:nvPr/>
        </p:nvSpPr>
        <p:spPr>
          <a:xfrm>
            <a:off x="6760815" y="2998887"/>
            <a:ext cx="31075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5: Select the “Your Collections” tab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CB91D14-9F10-716D-3511-505B9B922A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14541" y="4170744"/>
            <a:ext cx="1746711" cy="41849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ED42C0E-59F7-22A0-9A24-BA155D3CF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24" idx="6"/>
            <a:endCxn id="28" idx="1"/>
          </p:cNvCxnSpPr>
          <p:nvPr/>
        </p:nvCxnSpPr>
        <p:spPr>
          <a:xfrm>
            <a:off x="3061252" y="4379990"/>
            <a:ext cx="2122998" cy="27617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F06155C-EE7A-3101-6BC8-AC28C1897468}"/>
              </a:ext>
            </a:extLst>
          </p:cNvPr>
          <p:cNvSpPr txBox="1"/>
          <p:nvPr/>
        </p:nvSpPr>
        <p:spPr>
          <a:xfrm>
            <a:off x="5184250" y="4056000"/>
            <a:ext cx="31075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6: Click the collection name that </a:t>
            </a:r>
            <a:r>
              <a:rPr lang="en-US" b="1" u="sng" dirty="0">
                <a:solidFill>
                  <a:srgbClr val="FF0000"/>
                </a:solidFill>
              </a:rPr>
              <a:t>you</a:t>
            </a:r>
            <a:r>
              <a:rPr lang="en-US" dirty="0">
                <a:solidFill>
                  <a:srgbClr val="FF0000"/>
                </a:solidFill>
              </a:rPr>
              <a:t> chose when you created your local Globus endpoint </a:t>
            </a:r>
          </a:p>
        </p:txBody>
      </p:sp>
    </p:spTree>
    <p:extLst>
      <p:ext uri="{BB962C8B-B14F-4D97-AF65-F5344CB8AC3E}">
        <p14:creationId xmlns:p14="http://schemas.microsoft.com/office/powerpoint/2010/main" val="26745373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4AD5DF-BEC3-3C28-CBBA-76F111D17A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49977" y="6295490"/>
            <a:ext cx="956700" cy="365126"/>
          </a:xfrm>
        </p:spPr>
        <p:txBody>
          <a:bodyPr/>
          <a:lstStyle/>
          <a:p>
            <a:fld id="{CF74A83E-DBD5-E949-AEF6-27ED96A791F3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409383-BBFF-E670-6686-702E65DC9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C45CA-C179-333B-BA05-1D044E4F5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46809F-714D-2A59-AF8E-185328156A87}"/>
              </a:ext>
            </a:extLst>
          </p:cNvPr>
          <p:cNvSpPr txBox="1"/>
          <p:nvPr/>
        </p:nvSpPr>
        <p:spPr>
          <a:xfrm>
            <a:off x="3749977" y="2659559"/>
            <a:ext cx="453784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Let’s check it out!</a:t>
            </a:r>
          </a:p>
        </p:txBody>
      </p:sp>
    </p:spTree>
    <p:extLst>
      <p:ext uri="{BB962C8B-B14F-4D97-AF65-F5344CB8AC3E}">
        <p14:creationId xmlns:p14="http://schemas.microsoft.com/office/powerpoint/2010/main" val="37657946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0A8D5-78D0-45DC-A1A9-B38B955BA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Globus Shared Endpoints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7D284-E949-488F-AEA2-34685743F8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Helvetica"/>
                <a:cs typeface="Helvetica"/>
              </a:rPr>
              <a:t>Globus offers ‘shared endpoints’, which allow you to share your data with external collaborators (i.e. you can share data with people who don't have CURC accounts)</a:t>
            </a:r>
          </a:p>
          <a:p>
            <a:r>
              <a:rPr lang="en-US" dirty="0">
                <a:latin typeface="Helvetica"/>
                <a:cs typeface="Helvetica"/>
              </a:rPr>
              <a:t>CURC provides this capability, however, it is only available for </a:t>
            </a:r>
            <a:r>
              <a:rPr lang="en-US" u="sng" dirty="0" err="1">
                <a:latin typeface="Helvetica"/>
                <a:cs typeface="Helvetica"/>
              </a:rPr>
              <a:t>PetaLibrary</a:t>
            </a:r>
            <a:r>
              <a:rPr lang="en-US" u="sng" dirty="0">
                <a:latin typeface="Helvetica"/>
                <a:cs typeface="Helvetica"/>
              </a:rPr>
              <a:t> customers</a:t>
            </a:r>
          </a:p>
          <a:p>
            <a:r>
              <a:rPr lang="en-US" dirty="0"/>
              <a:t>Shared Endpoints generate a shared collection that can be accessed with a link</a:t>
            </a:r>
          </a:p>
          <a:p>
            <a:pPr lvl="1"/>
            <a:r>
              <a:rPr lang="en-US" dirty="0"/>
              <a:t>For an example, see </a:t>
            </a:r>
            <a:r>
              <a:rPr lang="en-US" b="0" i="0" u="none" strike="noStrike" dirty="0">
                <a:effectLst/>
                <a:latin typeface="Slack-Lato"/>
                <a:hlinkClick r:id="rId2"/>
              </a:rPr>
              <a:t>https://scholar.colorado.edu/concern/datasets/9593tw13k</a:t>
            </a:r>
            <a:endParaRPr lang="en-US" dirty="0"/>
          </a:p>
          <a:p>
            <a:pPr lvl="1"/>
            <a:r>
              <a:rPr lang="en-US" dirty="0"/>
              <a:t>You can assign various permissions to specific users or all users within Globus</a:t>
            </a:r>
          </a:p>
          <a:p>
            <a:pPr lvl="1"/>
            <a:r>
              <a:rPr lang="en-US" dirty="0"/>
              <a:t>More information is provided at </a:t>
            </a:r>
            <a:r>
              <a:rPr lang="en-US" dirty="0">
                <a:hlinkClick r:id="rId3"/>
              </a:rPr>
              <a:t>https://docs.globus.org/how-to/share-files/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F07BAE-E9F1-45A4-BA07-2610004AF5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79520" y="6295490"/>
            <a:ext cx="927157" cy="365125"/>
          </a:xfrm>
        </p:spPr>
        <p:txBody>
          <a:bodyPr/>
          <a:lstStyle/>
          <a:p>
            <a:fld id="{42796497-2CFC-A045-B752-2C98EE43944A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8AA40D-936C-44B0-87C2-B492B1828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C7CCD-0A1E-4B93-9395-056174327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0045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870C1B-4818-161E-71FB-12DEFB423C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07843" y="6295490"/>
            <a:ext cx="998834" cy="365126"/>
          </a:xfrm>
        </p:spPr>
        <p:txBody>
          <a:bodyPr/>
          <a:lstStyle/>
          <a:p>
            <a:fld id="{391850CA-0196-404B-A6F0-36B6B726010A}" type="datetime1">
              <a:rPr lang="en-US" smtClean="0"/>
              <a:t>9/11/26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543B12-F048-9D43-6505-70EE580A7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Data Transfer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8AE26D-5961-D537-CC3C-3484F598D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21DBF-325B-3546-BAAF-4F6E3B3181FF}" type="slidenum">
              <a:rPr lang="en-US" smtClean="0"/>
              <a:t>18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5C3010-11C2-2D74-2DE9-E93153037F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88062" y="5381989"/>
            <a:ext cx="2011680" cy="50292"/>
          </a:xfrm>
          <a:prstGeom prst="rect">
            <a:avLst/>
          </a:prstGeom>
          <a:solidFill>
            <a:srgbClr val="CFB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Google Shape;136;p19">
            <a:extLst>
              <a:ext uri="{FF2B5EF4-FFF2-40B4-BE49-F238E27FC236}">
                <a16:creationId xmlns:a16="http://schemas.microsoft.com/office/drawing/2014/main" id="{DDAFD782-2C2B-834F-F3FE-310CA84FD654}"/>
              </a:ext>
            </a:extLst>
          </p:cNvPr>
          <p:cNvSpPr txBox="1"/>
          <p:nvPr/>
        </p:nvSpPr>
        <p:spPr>
          <a:xfrm>
            <a:off x="4293006" y="4730057"/>
            <a:ext cx="3359418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latin typeface="Helvetica Neue"/>
                <a:ea typeface="Helvetica Neue"/>
                <a:cs typeface="Helvetica Neue"/>
                <a:sym typeface="Helvetica Neue"/>
              </a:rPr>
              <a:t>Any Questions</a:t>
            </a:r>
            <a:endParaRPr sz="3200" b="1" dirty="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5" name="Graphic 14" descr="Questions with solid fill">
            <a:extLst>
              <a:ext uri="{FF2B5EF4-FFF2-40B4-BE49-F238E27FC236}">
                <a16:creationId xmlns:a16="http://schemas.microsoft.com/office/drawing/2014/main" id="{657247AD-F2FB-7C11-85A2-4272D7D33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6502" y="920745"/>
            <a:ext cx="41148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64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xample" id="{136DCCF9-56F0-2149-856F-315BA5D9D1CA}" vid="{D06CB102-DD95-5D48-B327-DF65A4E2E80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18876</TotalTime>
  <Words>842</Words>
  <Application>Microsoft Macintosh PowerPoint</Application>
  <PresentationFormat>Widescreen</PresentationFormat>
  <Paragraphs>148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Helvetica</vt:lpstr>
      <vt:lpstr>Helvetica Light</vt:lpstr>
      <vt:lpstr>Helvetica Neue</vt:lpstr>
      <vt:lpstr>Slack-Lato</vt:lpstr>
      <vt:lpstr>Office Theme</vt:lpstr>
      <vt:lpstr>Data Transfer with Globus</vt:lpstr>
      <vt:lpstr>PowerPoint Presentation</vt:lpstr>
      <vt:lpstr>Outline</vt:lpstr>
      <vt:lpstr>Accessing Data on CURC Resources</vt:lpstr>
      <vt:lpstr>General Filesystem Structure</vt:lpstr>
      <vt:lpstr>GUI option - Globus</vt:lpstr>
      <vt:lpstr>Globus Demo</vt:lpstr>
      <vt:lpstr>Globus Web-based interface</vt:lpstr>
      <vt:lpstr>PowerPoint Presentation</vt:lpstr>
      <vt:lpstr>Local Globus Endpoint</vt:lpstr>
      <vt:lpstr>Local Globus Endpoint-Installed</vt:lpstr>
      <vt:lpstr>Local Globus Endpoint-Configure</vt:lpstr>
      <vt:lpstr>PowerPoint Presentation</vt:lpstr>
      <vt:lpstr>PowerPoint Presentation</vt:lpstr>
      <vt:lpstr>PowerPoint Presentation</vt:lpstr>
      <vt:lpstr>PowerPoint Presentation</vt:lpstr>
      <vt:lpstr>Globus Shared Endpoints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GUIs on Blanca</dc:title>
  <dc:creator>Microsoft Office User</dc:creator>
  <cp:lastModifiedBy>Michael Joseph Schneider</cp:lastModifiedBy>
  <cp:revision>650</cp:revision>
  <dcterms:created xsi:type="dcterms:W3CDTF">2019-04-12T06:07:02Z</dcterms:created>
  <dcterms:modified xsi:type="dcterms:W3CDTF">2026-09-11T14:40:03Z</dcterms:modified>
</cp:coreProperties>
</file>